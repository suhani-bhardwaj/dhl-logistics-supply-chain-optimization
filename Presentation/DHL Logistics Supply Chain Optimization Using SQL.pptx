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2" d="100"/>
          <a:sy n="92" d="100"/>
        </p:scale>
        <p:origin x="24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/>
              <a:t>Top</a:t>
            </a:r>
            <a:r>
              <a:rPr lang="en-IN" baseline="0" dirty="0"/>
              <a:t> Delay Route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Delay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R002</c:v>
                </c:pt>
                <c:pt idx="1">
                  <c:v>R007</c:v>
                </c:pt>
                <c:pt idx="2">
                  <c:v>R020</c:v>
                </c:pt>
                <c:pt idx="3">
                  <c:v>R003</c:v>
                </c:pt>
                <c:pt idx="4">
                  <c:v>R008</c:v>
                </c:pt>
                <c:pt idx="5">
                  <c:v>R005</c:v>
                </c:pt>
                <c:pt idx="6">
                  <c:v>R004</c:v>
                </c:pt>
                <c:pt idx="7">
                  <c:v>R018</c:v>
                </c:pt>
                <c:pt idx="8">
                  <c:v>R011</c:v>
                </c:pt>
                <c:pt idx="9">
                  <c:v>R014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41.04</c:v>
                </c:pt>
                <c:pt idx="1">
                  <c:v>34.01</c:v>
                </c:pt>
                <c:pt idx="2">
                  <c:v>32.799999999999997</c:v>
                </c:pt>
                <c:pt idx="3">
                  <c:v>32.18</c:v>
                </c:pt>
                <c:pt idx="4">
                  <c:v>30.81</c:v>
                </c:pt>
                <c:pt idx="5">
                  <c:v>29.86</c:v>
                </c:pt>
                <c:pt idx="6">
                  <c:v>25.88</c:v>
                </c:pt>
                <c:pt idx="7">
                  <c:v>25.83</c:v>
                </c:pt>
                <c:pt idx="8">
                  <c:v>22.64</c:v>
                </c:pt>
                <c:pt idx="9">
                  <c:v>20.97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1C-4E7F-A8E9-2C867B90A52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R002</c:v>
                </c:pt>
                <c:pt idx="1">
                  <c:v>R007</c:v>
                </c:pt>
                <c:pt idx="2">
                  <c:v>R020</c:v>
                </c:pt>
                <c:pt idx="3">
                  <c:v>R003</c:v>
                </c:pt>
                <c:pt idx="4">
                  <c:v>R008</c:v>
                </c:pt>
                <c:pt idx="5">
                  <c:v>R005</c:v>
                </c:pt>
                <c:pt idx="6">
                  <c:v>R004</c:v>
                </c:pt>
                <c:pt idx="7">
                  <c:v>R018</c:v>
                </c:pt>
                <c:pt idx="8">
                  <c:v>R011</c:v>
                </c:pt>
                <c:pt idx="9">
                  <c:v>R014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</c:numCache>
            </c:numRef>
          </c:val>
          <c:extLst>
            <c:ext xmlns:c16="http://schemas.microsoft.com/office/drawing/2014/chart" uri="{C3380CC4-5D6E-409C-BE32-E72D297353CC}">
              <c16:uniqueId val="{00000001-891C-4E7F-A8E9-2C867B90A52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R002</c:v>
                </c:pt>
                <c:pt idx="1">
                  <c:v>R007</c:v>
                </c:pt>
                <c:pt idx="2">
                  <c:v>R020</c:v>
                </c:pt>
                <c:pt idx="3">
                  <c:v>R003</c:v>
                </c:pt>
                <c:pt idx="4">
                  <c:v>R008</c:v>
                </c:pt>
                <c:pt idx="5">
                  <c:v>R005</c:v>
                </c:pt>
                <c:pt idx="6">
                  <c:v>R004</c:v>
                </c:pt>
                <c:pt idx="7">
                  <c:v>R018</c:v>
                </c:pt>
                <c:pt idx="8">
                  <c:v>R011</c:v>
                </c:pt>
                <c:pt idx="9">
                  <c:v>R014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</c:numCache>
            </c:numRef>
          </c:val>
          <c:extLst>
            <c:ext xmlns:c16="http://schemas.microsoft.com/office/drawing/2014/chart" uri="{C3380CC4-5D6E-409C-BE32-E72D297353CC}">
              <c16:uniqueId val="{00000002-891C-4E7F-A8E9-2C867B90A5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3"/>
        <c:axId val="1584822688"/>
        <c:axId val="1584825088"/>
      </c:barChart>
      <c:catAx>
        <c:axId val="158482268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4825088"/>
        <c:crosses val="autoZero"/>
        <c:auto val="1"/>
        <c:lblAlgn val="ctr"/>
        <c:lblOffset val="100"/>
        <c:noMultiLvlLbl val="0"/>
      </c:catAx>
      <c:valAx>
        <c:axId val="15848250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48226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legendEntry>
        <c:idx val="1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62" b="0" i="0" u="none" strike="noStrike" baseline="0" dirty="0"/>
              <a:t>Routes Requiring Optimization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Delay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R002</c:v>
                </c:pt>
                <c:pt idx="1">
                  <c:v>R007</c:v>
                </c:pt>
                <c:pt idx="2">
                  <c:v>R020</c:v>
                </c:pt>
                <c:pt idx="3">
                  <c:v>R003</c:v>
                </c:pt>
                <c:pt idx="4">
                  <c:v>R008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41.04</c:v>
                </c:pt>
                <c:pt idx="1">
                  <c:v>34.01</c:v>
                </c:pt>
                <c:pt idx="2">
                  <c:v>32.799999999999997</c:v>
                </c:pt>
                <c:pt idx="3">
                  <c:v>32.18</c:v>
                </c:pt>
                <c:pt idx="4">
                  <c:v>30.81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C8-4152-B363-E1B5A24382F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R002</c:v>
                </c:pt>
                <c:pt idx="1">
                  <c:v>R007</c:v>
                </c:pt>
                <c:pt idx="2">
                  <c:v>R020</c:v>
                </c:pt>
                <c:pt idx="3">
                  <c:v>R003</c:v>
                </c:pt>
                <c:pt idx="4">
                  <c:v>R008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1-90C8-4152-B363-E1B5A24382F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R002</c:v>
                </c:pt>
                <c:pt idx="1">
                  <c:v>R007</c:v>
                </c:pt>
                <c:pt idx="2">
                  <c:v>R020</c:v>
                </c:pt>
                <c:pt idx="3">
                  <c:v>R003</c:v>
                </c:pt>
                <c:pt idx="4">
                  <c:v>R008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2-90C8-4152-B363-E1B5A24382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36449136"/>
        <c:axId val="2036447216"/>
      </c:barChart>
      <c:catAx>
        <c:axId val="20364491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447216"/>
        <c:crosses val="autoZero"/>
        <c:auto val="1"/>
        <c:lblAlgn val="ctr"/>
        <c:lblOffset val="100"/>
        <c:noMultiLvlLbl val="0"/>
      </c:catAx>
      <c:valAx>
        <c:axId val="20364472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64491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62" b="0" i="0" u="none" strike="noStrike" baseline="0" dirty="0"/>
              <a:t>Top 3 Warehouses by Average Delay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Delay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W004</c:v>
                </c:pt>
                <c:pt idx="1">
                  <c:v>W003</c:v>
                </c:pt>
                <c:pt idx="2">
                  <c:v>W008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25.88</c:v>
                </c:pt>
                <c:pt idx="1">
                  <c:v>25.54</c:v>
                </c:pt>
                <c:pt idx="2">
                  <c:v>24.35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A5-4D48-988F-D3E52B708B7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W004</c:v>
                </c:pt>
                <c:pt idx="1">
                  <c:v>W003</c:v>
                </c:pt>
                <c:pt idx="2">
                  <c:v>W008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7AA5-4D48-988F-D3E52B708B7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W004</c:v>
                </c:pt>
                <c:pt idx="1">
                  <c:v>W003</c:v>
                </c:pt>
                <c:pt idx="2">
                  <c:v>W008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7AA5-4D48-988F-D3E52B708B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15213856"/>
        <c:axId val="1725654752"/>
      </c:barChart>
      <c:catAx>
        <c:axId val="19152138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5654752"/>
        <c:crosses val="autoZero"/>
        <c:auto val="1"/>
        <c:lblAlgn val="ctr"/>
        <c:lblOffset val="100"/>
        <c:noMultiLvlLbl val="0"/>
      </c:catAx>
      <c:valAx>
        <c:axId val="17256547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152138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62" b="0" i="0" u="none" strike="noStrike" baseline="0" dirty="0"/>
              <a:t>Top 5 Performing Delivery Agents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A0046</c:v>
                </c:pt>
                <c:pt idx="1">
                  <c:v>A0028</c:v>
                </c:pt>
                <c:pt idx="2">
                  <c:v>A0029</c:v>
                </c:pt>
                <c:pt idx="3">
                  <c:v>A0047</c:v>
                </c:pt>
                <c:pt idx="4">
                  <c:v>A0049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7.63</c:v>
                </c:pt>
                <c:pt idx="1">
                  <c:v>8.1</c:v>
                </c:pt>
                <c:pt idx="2">
                  <c:v>8.9</c:v>
                </c:pt>
                <c:pt idx="3">
                  <c:v>9.6</c:v>
                </c:pt>
                <c:pt idx="4">
                  <c:v>10.85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99-430B-BA7B-FAD440E9FFA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A0046</c:v>
                </c:pt>
                <c:pt idx="1">
                  <c:v>A0028</c:v>
                </c:pt>
                <c:pt idx="2">
                  <c:v>A0029</c:v>
                </c:pt>
                <c:pt idx="3">
                  <c:v>A0047</c:v>
                </c:pt>
                <c:pt idx="4">
                  <c:v>A0049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1-FF99-430B-BA7B-FAD440E9FFA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A0046</c:v>
                </c:pt>
                <c:pt idx="1">
                  <c:v>A0028</c:v>
                </c:pt>
                <c:pt idx="2">
                  <c:v>A0029</c:v>
                </c:pt>
                <c:pt idx="3">
                  <c:v>A0047</c:v>
                </c:pt>
                <c:pt idx="4">
                  <c:v>A0049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2-FF99-430B-BA7B-FAD440E9FF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20553728"/>
        <c:axId val="1720559488"/>
      </c:barChart>
      <c:catAx>
        <c:axId val="1720553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0559488"/>
        <c:crosses val="autoZero"/>
        <c:auto val="1"/>
        <c:lblAlgn val="ctr"/>
        <c:lblOffset val="100"/>
        <c:noMultiLvlLbl val="0"/>
      </c:catAx>
      <c:valAx>
        <c:axId val="17205594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05537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62" b="0" i="0" u="none" strike="noStrike" baseline="0" dirty="0"/>
              <a:t>Most Frequent Delay Reasons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occurences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D1D-4344-8C6F-337856BF718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D1D-4344-8C6F-337856BF718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D1D-4344-8C6F-337856BF718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D1D-4344-8C6F-337856BF718F}"/>
              </c:ext>
            </c:extLst>
          </c:dPt>
          <c:dLbls>
            <c:numFmt formatCode="0.0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Traffic</c:v>
                </c:pt>
                <c:pt idx="1">
                  <c:v>Weather</c:v>
                </c:pt>
                <c:pt idx="2">
                  <c:v>Technical Issue</c:v>
                </c:pt>
                <c:pt idx="3">
                  <c:v>No Delay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486</c:v>
                </c:pt>
                <c:pt idx="1">
                  <c:v>293</c:v>
                </c:pt>
                <c:pt idx="2">
                  <c:v>168</c:v>
                </c:pt>
                <c:pt idx="3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FF-4174-9C1E-974FCB4C86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FFEBFF-98B9-43C8-AEC8-56F2E9D62BE3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758D9B-343F-48A2-BE75-9C48B5CEC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163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758D9B-343F-48A2-BE75-9C48B5CECE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669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0DD57-E5B4-6594-9867-FEEA221D1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81019C-FA1D-26E5-535E-F194DCF403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7CB2E-9814-A2AA-6FDA-E53DE7075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D2860-0490-42B5-8FA7-4986751C451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13880-27F9-5A8C-BFB8-CC50F60D4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FA736-0E7D-75B4-EA72-CA26908B5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452A5-D718-4FDC-BC79-6DE9290EC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800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416FA-53D2-D81F-0454-F2968E8AC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BD22D-D5A6-34DA-57ED-F429BE99C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A7AB19-4315-D7F6-1412-C77F0E583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D2860-0490-42B5-8FA7-4986751C451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0C7F6-B7CF-2378-6619-B7F332D95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E2EA5-ABBD-89B1-56A7-FDB5240C2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452A5-D718-4FDC-BC79-6DE9290EC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004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B4DA2-840E-3BF0-3985-0702E8270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F3F58-DE9D-6095-B64A-53A2C400D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CBB53-EAC5-9329-0B94-FE842D467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D2860-0490-42B5-8FA7-4986751C451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E190C-DA6F-7164-9F68-36776629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F11D3-EFA1-370C-2E6A-4FF323B6E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452A5-D718-4FDC-BC79-6DE9290EC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600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BEBFD-B951-B362-35A4-038D450CB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FC822-26B5-68D0-50D4-27F9AE2F5F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2C47DB-3FEC-9484-B96A-C8C3F24EA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24C05B-4518-01A3-3E8C-DC2768961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D2860-0490-42B5-8FA7-4986751C451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F47A62-1DC7-6073-FDA0-171EEC1A6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13B836-A646-AA95-0846-DBFF360DE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452A5-D718-4FDC-BC79-6DE9290EC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536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571B5-AB6A-4426-5D01-D73556033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073F9F-8604-70DF-37DF-78E745FC9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7FA28-4B54-6E18-2AF0-79FF09DE5B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BDA1D1-8ED2-4F2D-46C1-0ED9B22A7F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2FBB8D-A175-80EF-0B1B-7EBC113C40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EB6C61-3BA6-B8AF-1FF9-C0F8B96D9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D2860-0490-42B5-8FA7-4986751C451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128471-1BAD-DB45-2045-ACBB2E2FE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D3B1DF-1A75-20FD-2E61-4140BFF9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452A5-D718-4FDC-BC79-6DE9290EC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677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719C0-486D-120C-CA52-7EE0F6DF2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EE2000-90A9-8FB7-3BB8-A3C1FCE06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D2860-0490-42B5-8FA7-4986751C451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B0FB2B-FC63-1616-3C16-E5D676658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3952FB-12BC-2B10-55C1-C21C91A96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452A5-D718-4FDC-BC79-6DE9290EC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433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893F36-3018-1A45-2543-D13D448EA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D2860-0490-42B5-8FA7-4986751C451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844750-F153-9C69-4DBC-F992744E0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67A89-8EE9-7448-9683-DF58BDB03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452A5-D718-4FDC-BC79-6DE9290EC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472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4568D-8616-3E8C-6FF4-F41B95674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4A215-3709-F551-FF27-1976AD910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BF119E-83BB-F758-8868-F4A0AD2CF4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99FF9E-7E38-B90E-C14D-96CAEDBCB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D2860-0490-42B5-8FA7-4986751C451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0135EF-F8F4-0126-8044-A233F92A8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850CC-B752-2FF8-95E8-B29140AE0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452A5-D718-4FDC-BC79-6DE9290EC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633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D70AC-A583-BAA3-EAAB-127B2A187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7BBE01-A329-EB13-5C7B-288F96C5FA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EC8DE4-88F2-66A5-1F64-D083CD1AB6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85DF88-41B2-8BD0-1ECC-D7BB27D7E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D2860-0490-42B5-8FA7-4986751C451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7EEDC9-AA78-AF62-8F7E-4D647A645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6EDCC4-0FDF-7CB0-6149-ED6DCAECD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452A5-D718-4FDC-BC79-6DE9290EC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727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A8987-48A8-6C5E-9900-FC3855776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4AF86A-64E6-47F5-B567-2775602F14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782927-0B33-3016-2544-F3842F827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D2860-0490-42B5-8FA7-4986751C451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2F6DC-5CB3-D6AA-A819-273C7851A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831B6-5402-CEC3-5631-67473CDD2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452A5-D718-4FDC-BC79-6DE9290EC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111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1D1C45-6446-98A1-CF4C-14AB845039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3C772C-EC66-DA8D-8F80-B4D8CAA420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1B68C-E318-F3BA-EACB-E8853C640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D2860-0490-42B5-8FA7-4986751C451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0115A-D462-E675-C5EE-69F562530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9D111-F6CE-18FF-3229-F60CA1316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452A5-D718-4FDC-BC79-6DE9290EC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020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8EF923-E3E2-E0A9-00E9-E0AB02407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844BA3-3B09-C081-58B7-786176766B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D1AD81-C909-8CB5-4391-85AFCD8D0C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D2860-0490-42B5-8FA7-4986751C451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A291B-2069-B17C-BCB6-6385E08B5C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F5B24-A6DD-9226-DC41-51092982AE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D452A5-D718-4FDC-BC79-6DE9290EC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837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0839D-75E9-C9A2-B552-EB7EB6FF06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124692"/>
            <a:ext cx="12192000" cy="706582"/>
          </a:xfrm>
        </p:spPr>
        <p:txBody>
          <a:bodyPr>
            <a:normAutofit/>
          </a:bodyPr>
          <a:lstStyle/>
          <a:p>
            <a:r>
              <a:rPr lang="en-US" sz="4400" b="1" dirty="0"/>
              <a:t>DHL Logistics Supply Chain Optimization Using SQL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40B060-813E-2104-2FA5-23E1BBF4A1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9215" y="1546166"/>
            <a:ext cx="9678785" cy="4098175"/>
          </a:xfrm>
        </p:spPr>
        <p:txBody>
          <a:bodyPr/>
          <a:lstStyle/>
          <a:p>
            <a:pPr algn="just"/>
            <a:r>
              <a:rPr lang="en-US" b="1" dirty="0"/>
              <a:t>                                                  </a:t>
            </a:r>
            <a:endParaRPr lang="en-US" dirty="0"/>
          </a:p>
          <a:p>
            <a:pPr algn="just"/>
            <a:r>
              <a:rPr lang="en-US" b="1" dirty="0"/>
              <a:t>Tools Used:</a:t>
            </a:r>
            <a:endParaRPr lang="en-US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MySQL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Excel Dataset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PowerPoint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                                                                   </a:t>
            </a:r>
          </a:p>
          <a:p>
            <a:pPr algn="just"/>
            <a:r>
              <a:rPr lang="en-US" dirty="0"/>
              <a:t>                                                                                                </a:t>
            </a:r>
            <a:r>
              <a:rPr lang="en-US" b="1" dirty="0"/>
              <a:t>Submitted by: </a:t>
            </a:r>
            <a:r>
              <a:rPr lang="en-US" dirty="0"/>
              <a:t>SUHANI</a:t>
            </a:r>
          </a:p>
        </p:txBody>
      </p:sp>
    </p:spTree>
    <p:extLst>
      <p:ext uri="{BB962C8B-B14F-4D97-AF65-F5344CB8AC3E}">
        <p14:creationId xmlns:p14="http://schemas.microsoft.com/office/powerpoint/2010/main" val="4163748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94D6C-2D34-B4F0-CC3C-0CC7A9B15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757"/>
            <a:ext cx="10515600" cy="906088"/>
          </a:xfrm>
        </p:spPr>
        <p:txBody>
          <a:bodyPr/>
          <a:lstStyle/>
          <a:p>
            <a:pPr algn="just"/>
            <a:r>
              <a:rPr lang="en-US" b="1" dirty="0"/>
              <a:t>                         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35A2E-1741-1A77-93FB-94203A3CE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6167"/>
            <a:ext cx="10515600" cy="4912822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b="1" dirty="0"/>
              <a:t>Objective</a:t>
            </a:r>
          </a:p>
          <a:p>
            <a:pPr algn="just">
              <a:lnSpc>
                <a:spcPct val="110000"/>
              </a:lnSpc>
            </a:pPr>
            <a:r>
              <a:rPr lang="en-US" sz="2600" dirty="0"/>
              <a:t>To analyze DHL logistics operations and identify opportunities to reduce delays, improve route efficiency, optimize warehouse utilization, and enhance delivery performance.</a:t>
            </a:r>
          </a:p>
          <a:p>
            <a:pPr marL="0" indent="0" algn="just">
              <a:buNone/>
            </a:pPr>
            <a:endParaRPr lang="en-US" b="1" dirty="0"/>
          </a:p>
          <a:p>
            <a:pPr marL="0" indent="0" algn="just">
              <a:buNone/>
            </a:pPr>
            <a:r>
              <a:rPr lang="en-US" b="1" dirty="0"/>
              <a:t>Scope</a:t>
            </a:r>
          </a:p>
          <a:p>
            <a:pPr algn="just"/>
            <a:r>
              <a:rPr lang="en-US" sz="2600" dirty="0"/>
              <a:t>The project analyzes:</a:t>
            </a:r>
          </a:p>
          <a:p>
            <a:pPr algn="just"/>
            <a:r>
              <a:rPr lang="en-US" sz="2600" dirty="0"/>
              <a:t>Orders </a:t>
            </a:r>
          </a:p>
          <a:p>
            <a:pPr algn="just"/>
            <a:r>
              <a:rPr lang="en-US" sz="2600" dirty="0"/>
              <a:t>Shipments </a:t>
            </a:r>
          </a:p>
          <a:p>
            <a:pPr algn="just"/>
            <a:r>
              <a:rPr lang="en-US" sz="2600" dirty="0"/>
              <a:t>Routes </a:t>
            </a:r>
          </a:p>
          <a:p>
            <a:pPr algn="just"/>
            <a:r>
              <a:rPr lang="en-US" sz="2600" dirty="0"/>
              <a:t>Warehouses </a:t>
            </a:r>
          </a:p>
          <a:p>
            <a:pPr algn="just"/>
            <a:r>
              <a:rPr lang="en-US" sz="2600" dirty="0"/>
              <a:t>Delivery Agents</a:t>
            </a:r>
          </a:p>
          <a:p>
            <a:pPr marL="0" indent="0">
              <a:buNone/>
            </a:pPr>
            <a:endParaRPr lang="en-US" sz="2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45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46319-3CC8-4790-D63B-40C72A838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316"/>
            <a:ext cx="10515600" cy="947651"/>
          </a:xfrm>
        </p:spPr>
        <p:txBody>
          <a:bodyPr/>
          <a:lstStyle/>
          <a:p>
            <a:pPr algn="just"/>
            <a:r>
              <a:rPr lang="en-US" b="1" dirty="0"/>
              <a:t>                       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A7E13-ABEB-C306-94DF-A463C0268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1971"/>
            <a:ext cx="10515600" cy="4954992"/>
          </a:xfrm>
        </p:spPr>
        <p:txBody>
          <a:bodyPr/>
          <a:lstStyle/>
          <a:p>
            <a:pPr marL="0" indent="0" algn="just">
              <a:buNone/>
            </a:pPr>
            <a:r>
              <a:rPr lang="en-US" sz="2400" dirty="0"/>
              <a:t>DHL handles thousands of shipments daily.</a:t>
            </a:r>
          </a:p>
          <a:p>
            <a:pPr marL="0" indent="0" algn="just">
              <a:buNone/>
            </a:pPr>
            <a:r>
              <a:rPr lang="en-US" sz="2400" dirty="0"/>
              <a:t>Operational issues such as:</a:t>
            </a:r>
          </a:p>
          <a:p>
            <a:pPr algn="just"/>
            <a:r>
              <a:rPr lang="en-US" sz="2400" dirty="0"/>
              <a:t>Shipment delays </a:t>
            </a:r>
          </a:p>
          <a:p>
            <a:pPr algn="just"/>
            <a:r>
              <a:rPr lang="en-US" sz="2400" dirty="0"/>
              <a:t>Inefficient routes </a:t>
            </a:r>
          </a:p>
          <a:p>
            <a:pPr algn="just"/>
            <a:r>
              <a:rPr lang="en-US" sz="2400" dirty="0"/>
              <a:t>Warehouse congestion </a:t>
            </a:r>
          </a:p>
          <a:p>
            <a:pPr algn="just"/>
            <a:r>
              <a:rPr lang="en-US" sz="2400" dirty="0"/>
              <a:t>Underperforming agents </a:t>
            </a:r>
          </a:p>
          <a:p>
            <a:pPr marL="0" indent="0" algn="just">
              <a:buNone/>
            </a:pPr>
            <a:r>
              <a:rPr lang="en-US" sz="2400" dirty="0"/>
              <a:t>can negatively impact customer satisfaction and delivery performance.</a:t>
            </a:r>
          </a:p>
          <a:p>
            <a:pPr marL="0" indent="0" algn="just">
              <a:buNone/>
            </a:pPr>
            <a:r>
              <a:rPr lang="en-US" sz="2400" dirty="0"/>
              <a:t>This project aims to identify these inefficiencies and propose optimization strategies.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778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21D22-4DBE-851C-D19B-47B1A3DFC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131" y="191193"/>
            <a:ext cx="11837324" cy="590203"/>
          </a:xfrm>
        </p:spPr>
        <p:txBody>
          <a:bodyPr>
            <a:noAutofit/>
          </a:bodyPr>
          <a:lstStyle/>
          <a:p>
            <a:r>
              <a:rPr lang="en-US" sz="4400" b="1" dirty="0"/>
              <a:t>Project Objectives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C070B79-B893-66DE-99AD-4C836290EBE2}"/>
              </a:ext>
            </a:extLst>
          </p:cNvPr>
          <p:cNvSpPr/>
          <p:nvPr/>
        </p:nvSpPr>
        <p:spPr>
          <a:xfrm>
            <a:off x="714895" y="1471353"/>
            <a:ext cx="2560320" cy="8312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Validation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72D30E0-16E3-B4BE-7F5E-7A063D3DACB7}"/>
              </a:ext>
            </a:extLst>
          </p:cNvPr>
          <p:cNvSpPr/>
          <p:nvPr/>
        </p:nvSpPr>
        <p:spPr>
          <a:xfrm>
            <a:off x="714893" y="5054139"/>
            <a:ext cx="2662843" cy="8312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Business Recommendations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4571087-CE82-06AA-7C73-748CFAF4D9FD}"/>
              </a:ext>
            </a:extLst>
          </p:cNvPr>
          <p:cNvSpPr/>
          <p:nvPr/>
        </p:nvSpPr>
        <p:spPr>
          <a:xfrm>
            <a:off x="4328160" y="3262746"/>
            <a:ext cx="2845723" cy="8312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Delivery Agent Performance Analysis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319D20C-CD08-4E5B-967F-1532C1A98BD0}"/>
              </a:ext>
            </a:extLst>
          </p:cNvPr>
          <p:cNvSpPr/>
          <p:nvPr/>
        </p:nvSpPr>
        <p:spPr>
          <a:xfrm>
            <a:off x="4261658" y="1463040"/>
            <a:ext cx="2845723" cy="8312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Delay Analysis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DC183F5-2235-1A13-92A4-E21E31C44AE2}"/>
              </a:ext>
            </a:extLst>
          </p:cNvPr>
          <p:cNvSpPr/>
          <p:nvPr/>
        </p:nvSpPr>
        <p:spPr>
          <a:xfrm>
            <a:off x="7941425" y="1463040"/>
            <a:ext cx="2845722" cy="8312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Route Optimization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B45BD81-F5BF-1295-5DC3-4C4C0DC4EB47}"/>
              </a:ext>
            </a:extLst>
          </p:cNvPr>
          <p:cNvSpPr/>
          <p:nvPr/>
        </p:nvSpPr>
        <p:spPr>
          <a:xfrm>
            <a:off x="714892" y="3262746"/>
            <a:ext cx="2662843" cy="8312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Warehouse Analysis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7C4C2BC-4732-FB8E-A2A4-1D904A503EEE}"/>
              </a:ext>
            </a:extLst>
          </p:cNvPr>
          <p:cNvCxnSpPr/>
          <p:nvPr/>
        </p:nvCxnSpPr>
        <p:spPr>
          <a:xfrm>
            <a:off x="2003368" y="2485505"/>
            <a:ext cx="0" cy="623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66F2D11-C66F-181C-D091-6C721E58250F}"/>
              </a:ext>
            </a:extLst>
          </p:cNvPr>
          <p:cNvCxnSpPr/>
          <p:nvPr/>
        </p:nvCxnSpPr>
        <p:spPr>
          <a:xfrm>
            <a:off x="1995055" y="4292139"/>
            <a:ext cx="0" cy="623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6703C48-CC25-6EC9-CD1A-C6F8E053F918}"/>
              </a:ext>
            </a:extLst>
          </p:cNvPr>
          <p:cNvCxnSpPr/>
          <p:nvPr/>
        </p:nvCxnSpPr>
        <p:spPr>
          <a:xfrm>
            <a:off x="3449782" y="1878676"/>
            <a:ext cx="6317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14CD26D-CEBE-5357-A01B-B6FAE3C9D31C}"/>
              </a:ext>
            </a:extLst>
          </p:cNvPr>
          <p:cNvCxnSpPr/>
          <p:nvPr/>
        </p:nvCxnSpPr>
        <p:spPr>
          <a:xfrm>
            <a:off x="3552305" y="3678382"/>
            <a:ext cx="6317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4C45DDB-8A43-2552-A2BA-F4E36B0BA457}"/>
              </a:ext>
            </a:extLst>
          </p:cNvPr>
          <p:cNvCxnSpPr/>
          <p:nvPr/>
        </p:nvCxnSpPr>
        <p:spPr>
          <a:xfrm>
            <a:off x="7173883" y="1906385"/>
            <a:ext cx="6317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419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1AE70-8ED5-2810-BA48-7D756EEBA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1193"/>
            <a:ext cx="10515600" cy="822963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                   Dataset Description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59DE07E-5D93-C320-A535-0DE2C50D66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5251929"/>
              </p:ext>
            </p:extLst>
          </p:nvPr>
        </p:nvGraphicFramePr>
        <p:xfrm>
          <a:off x="838199" y="1512916"/>
          <a:ext cx="10417234" cy="3832170"/>
        </p:xfrm>
        <a:graphic>
          <a:graphicData uri="http://schemas.openxmlformats.org/drawingml/2006/table">
            <a:tbl>
              <a:tblPr/>
              <a:tblGrid>
                <a:gridCol w="5208617">
                  <a:extLst>
                    <a:ext uri="{9D8B030D-6E8A-4147-A177-3AD203B41FA5}">
                      <a16:colId xmlns:a16="http://schemas.microsoft.com/office/drawing/2014/main" val="203019972"/>
                    </a:ext>
                  </a:extLst>
                </a:gridCol>
                <a:gridCol w="5208617">
                  <a:extLst>
                    <a:ext uri="{9D8B030D-6E8A-4147-A177-3AD203B41FA5}">
                      <a16:colId xmlns:a16="http://schemas.microsoft.com/office/drawing/2014/main" val="3336928339"/>
                    </a:ext>
                  </a:extLst>
                </a:gridCol>
              </a:tblGrid>
              <a:tr h="6386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Dataset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5967134"/>
                  </a:ext>
                </a:extLst>
              </a:tr>
              <a:tr h="6386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Orders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Customer order 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5939424"/>
                  </a:ext>
                </a:extLst>
              </a:tr>
              <a:tr h="6386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Shipments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Shipment details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1681784"/>
                  </a:ext>
                </a:extLst>
              </a:tr>
              <a:tr h="6386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Routes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Distance and transit details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5657437"/>
                  </a:ext>
                </a:extLst>
              </a:tr>
              <a:tr h="6386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Warehouses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Capacity 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079611"/>
                  </a:ext>
                </a:extLst>
              </a:tr>
              <a:tr h="6386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Delivery Agents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Agent details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509554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C457AD1-6A06-0666-50F3-4AF1C2132C82}"/>
              </a:ext>
            </a:extLst>
          </p:cNvPr>
          <p:cNvSpPr txBox="1"/>
          <p:nvPr/>
        </p:nvSpPr>
        <p:spPr>
          <a:xfrm>
            <a:off x="838200" y="5613013"/>
            <a:ext cx="30923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Total Datasets Used: </a:t>
            </a:r>
            <a:r>
              <a:rPr lang="en-US" sz="2400" b="1" dirty="0"/>
              <a:t>5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88902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D7952-D64B-9B8B-52B0-F8A22144A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98022"/>
          </a:xfrm>
        </p:spPr>
        <p:txBody>
          <a:bodyPr/>
          <a:lstStyle/>
          <a:p>
            <a:pPr algn="just"/>
            <a:r>
              <a:rPr lang="en-US" b="1" dirty="0"/>
              <a:t>                            Methodology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740F60D-DA08-5D65-BEC1-1C7845F3604D}"/>
              </a:ext>
            </a:extLst>
          </p:cNvPr>
          <p:cNvSpPr/>
          <p:nvPr/>
        </p:nvSpPr>
        <p:spPr>
          <a:xfrm>
            <a:off x="838200" y="1313411"/>
            <a:ext cx="2229196" cy="7315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Dataset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5052EDC-A613-C865-C4AC-C665F69F4D1E}"/>
              </a:ext>
            </a:extLst>
          </p:cNvPr>
          <p:cNvSpPr/>
          <p:nvPr/>
        </p:nvSpPr>
        <p:spPr>
          <a:xfrm>
            <a:off x="8546868" y="1313411"/>
            <a:ext cx="2229196" cy="7315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Delay Analysis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35525E5-8727-441C-F4E3-8B7664D9DE3F}"/>
              </a:ext>
            </a:extLst>
          </p:cNvPr>
          <p:cNvSpPr/>
          <p:nvPr/>
        </p:nvSpPr>
        <p:spPr>
          <a:xfrm>
            <a:off x="838200" y="3052156"/>
            <a:ext cx="2229196" cy="8215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Delivery Agent Performance Analysis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5D775A4-1766-000E-0A7E-07AAB37D5DFA}"/>
              </a:ext>
            </a:extLst>
          </p:cNvPr>
          <p:cNvSpPr/>
          <p:nvPr/>
        </p:nvSpPr>
        <p:spPr>
          <a:xfrm>
            <a:off x="8546868" y="3052157"/>
            <a:ext cx="2229196" cy="7315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Route Optimization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CCE18F1-0A44-76E4-FF16-5BD0F4CEBFFF}"/>
              </a:ext>
            </a:extLst>
          </p:cNvPr>
          <p:cNvSpPr/>
          <p:nvPr/>
        </p:nvSpPr>
        <p:spPr>
          <a:xfrm>
            <a:off x="4692534" y="3063240"/>
            <a:ext cx="2229196" cy="7315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Warehouse Analysis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9AB687E-C8E3-67F5-45B2-52614A1E0D7E}"/>
              </a:ext>
            </a:extLst>
          </p:cNvPr>
          <p:cNvSpPr/>
          <p:nvPr/>
        </p:nvSpPr>
        <p:spPr>
          <a:xfrm>
            <a:off x="4692534" y="1313411"/>
            <a:ext cx="2229196" cy="7315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Cleaning &amp; Validation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F98A27D-493D-408E-80FA-39D950C79BA3}"/>
              </a:ext>
            </a:extLst>
          </p:cNvPr>
          <p:cNvSpPr/>
          <p:nvPr/>
        </p:nvSpPr>
        <p:spPr>
          <a:xfrm>
            <a:off x="838200" y="4813070"/>
            <a:ext cx="2229196" cy="7315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Recommendations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14FCEAD-9E97-AA8A-2B8B-BDEC1747C0A1}"/>
              </a:ext>
            </a:extLst>
          </p:cNvPr>
          <p:cNvCxnSpPr/>
          <p:nvPr/>
        </p:nvCxnSpPr>
        <p:spPr>
          <a:xfrm>
            <a:off x="3350029" y="1679171"/>
            <a:ext cx="10889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1C3DD84-0AE1-FB60-6CE1-82BCC1B8AC08}"/>
              </a:ext>
            </a:extLst>
          </p:cNvPr>
          <p:cNvCxnSpPr/>
          <p:nvPr/>
        </p:nvCxnSpPr>
        <p:spPr>
          <a:xfrm>
            <a:off x="7160029" y="1679171"/>
            <a:ext cx="10889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51D921A-71A8-68C9-9582-1A0C2B422419}"/>
              </a:ext>
            </a:extLst>
          </p:cNvPr>
          <p:cNvCxnSpPr/>
          <p:nvPr/>
        </p:nvCxnSpPr>
        <p:spPr>
          <a:xfrm>
            <a:off x="9661466" y="2236124"/>
            <a:ext cx="0" cy="6567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F5E83AC-BE40-FA45-FBAC-D066765658E6}"/>
              </a:ext>
            </a:extLst>
          </p:cNvPr>
          <p:cNvCxnSpPr/>
          <p:nvPr/>
        </p:nvCxnSpPr>
        <p:spPr>
          <a:xfrm>
            <a:off x="1952798" y="3984567"/>
            <a:ext cx="0" cy="6567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5C435A4-B75F-B341-2C16-35F549175A64}"/>
              </a:ext>
            </a:extLst>
          </p:cNvPr>
          <p:cNvCxnSpPr/>
          <p:nvPr/>
        </p:nvCxnSpPr>
        <p:spPr>
          <a:xfrm flipH="1">
            <a:off x="7248698" y="3429000"/>
            <a:ext cx="10723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343DEBA-319D-4780-02EF-FB11777CDE28}"/>
              </a:ext>
            </a:extLst>
          </p:cNvPr>
          <p:cNvCxnSpPr/>
          <p:nvPr/>
        </p:nvCxnSpPr>
        <p:spPr>
          <a:xfrm flipH="1">
            <a:off x="3366654" y="3435927"/>
            <a:ext cx="10723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7133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7DD15-414C-62EA-66B6-9FE6F143B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06334"/>
          </a:xfrm>
        </p:spPr>
        <p:txBody>
          <a:bodyPr/>
          <a:lstStyle/>
          <a:p>
            <a:r>
              <a:rPr lang="en-US" b="1" dirty="0"/>
              <a:t>                Data Cleaning &amp; Validation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DF9884D-AE79-24B2-F606-8FD794BB83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1754372"/>
              </p:ext>
            </p:extLst>
          </p:nvPr>
        </p:nvGraphicFramePr>
        <p:xfrm>
          <a:off x="773084" y="1055716"/>
          <a:ext cx="10580716" cy="2935560"/>
        </p:xfrm>
        <a:graphic>
          <a:graphicData uri="http://schemas.openxmlformats.org/drawingml/2006/table">
            <a:tbl>
              <a:tblPr/>
              <a:tblGrid>
                <a:gridCol w="5290358">
                  <a:extLst>
                    <a:ext uri="{9D8B030D-6E8A-4147-A177-3AD203B41FA5}">
                      <a16:colId xmlns:a16="http://schemas.microsoft.com/office/drawing/2014/main" val="1731167318"/>
                    </a:ext>
                  </a:extLst>
                </a:gridCol>
                <a:gridCol w="5290358">
                  <a:extLst>
                    <a:ext uri="{9D8B030D-6E8A-4147-A177-3AD203B41FA5}">
                      <a16:colId xmlns:a16="http://schemas.microsoft.com/office/drawing/2014/main" val="259546282"/>
                    </a:ext>
                  </a:extLst>
                </a:gridCol>
              </a:tblGrid>
              <a:tr h="489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Check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0181161"/>
                  </a:ext>
                </a:extLst>
              </a:tr>
              <a:tr h="489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Duplicate Orders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1659049"/>
                  </a:ext>
                </a:extLst>
              </a:tr>
              <a:tr h="489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Duplicate Shipments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9294969"/>
                  </a:ext>
                </a:extLst>
              </a:tr>
              <a:tr h="489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Missing Delay Hours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6056218"/>
                  </a:ext>
                </a:extLst>
              </a:tr>
              <a:tr h="489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Invalid Dates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0308407"/>
                  </a:ext>
                </a:extLst>
              </a:tr>
              <a:tr h="489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Relationship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4774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12E990A-0ACB-BB46-00A1-A67125E3C3D4}"/>
              </a:ext>
            </a:extLst>
          </p:cNvPr>
          <p:cNvSpPr txBox="1"/>
          <p:nvPr/>
        </p:nvSpPr>
        <p:spPr>
          <a:xfrm>
            <a:off x="773084" y="4174158"/>
            <a:ext cx="6097384" cy="2440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400" b="1" dirty="0"/>
              <a:t>Findings:</a:t>
            </a:r>
          </a:p>
          <a:p>
            <a:pPr marL="360000" indent="-36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No duplicate records found. </a:t>
            </a:r>
          </a:p>
          <a:p>
            <a:pPr marL="360000" indent="-36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No missing </a:t>
            </a:r>
            <a:r>
              <a:rPr lang="en-US" sz="2200" dirty="0" err="1"/>
              <a:t>Delay_Hours</a:t>
            </a:r>
            <a:r>
              <a:rPr lang="en-US" sz="2200" dirty="0"/>
              <a:t> found. </a:t>
            </a:r>
          </a:p>
          <a:p>
            <a:pPr marL="360000" indent="-36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No invalid dates detected. </a:t>
            </a:r>
          </a:p>
          <a:p>
            <a:pPr marL="360000" indent="-36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All relationships were valid.</a:t>
            </a:r>
          </a:p>
        </p:txBody>
      </p:sp>
    </p:spTree>
    <p:extLst>
      <p:ext uri="{BB962C8B-B14F-4D97-AF65-F5344CB8AC3E}">
        <p14:creationId xmlns:p14="http://schemas.microsoft.com/office/powerpoint/2010/main" val="1576639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591E4-7555-E411-FCC6-2E7FF3120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503"/>
            <a:ext cx="10515600" cy="615142"/>
          </a:xfrm>
        </p:spPr>
        <p:txBody>
          <a:bodyPr>
            <a:normAutofit fontScale="90000"/>
          </a:bodyPr>
          <a:lstStyle/>
          <a:p>
            <a:pPr algn="just"/>
            <a:r>
              <a:rPr lang="en-US" b="1" dirty="0"/>
              <a:t>                             Delay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B9CF45-B0B1-51D1-DC68-FBBF56E23EAD}"/>
              </a:ext>
            </a:extLst>
          </p:cNvPr>
          <p:cNvSpPr txBox="1"/>
          <p:nvPr/>
        </p:nvSpPr>
        <p:spPr>
          <a:xfrm>
            <a:off x="779318" y="1145370"/>
            <a:ext cx="60973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Top Delay Routes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8E1B603-DCCD-9880-3403-40E6739052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850628"/>
              </p:ext>
            </p:extLst>
          </p:nvPr>
        </p:nvGraphicFramePr>
        <p:xfrm>
          <a:off x="838200" y="1729047"/>
          <a:ext cx="6709756" cy="2086496"/>
        </p:xfrm>
        <a:graphic>
          <a:graphicData uri="http://schemas.openxmlformats.org/drawingml/2006/table">
            <a:tbl>
              <a:tblPr/>
              <a:tblGrid>
                <a:gridCol w="3354878">
                  <a:extLst>
                    <a:ext uri="{9D8B030D-6E8A-4147-A177-3AD203B41FA5}">
                      <a16:colId xmlns:a16="http://schemas.microsoft.com/office/drawing/2014/main" val="2871845119"/>
                    </a:ext>
                  </a:extLst>
                </a:gridCol>
                <a:gridCol w="3354878">
                  <a:extLst>
                    <a:ext uri="{9D8B030D-6E8A-4147-A177-3AD203B41FA5}">
                      <a16:colId xmlns:a16="http://schemas.microsoft.com/office/drawing/2014/main" val="404410707"/>
                    </a:ext>
                  </a:extLst>
                </a:gridCol>
              </a:tblGrid>
              <a:tr h="521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Route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Avg Delay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838843"/>
                  </a:ext>
                </a:extLst>
              </a:tr>
              <a:tr h="521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R002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41.04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526025"/>
                  </a:ext>
                </a:extLst>
              </a:tr>
              <a:tr h="521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R007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34.01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1982249"/>
                  </a:ext>
                </a:extLst>
              </a:tr>
              <a:tr h="521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R020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32.80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464272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DF1FA38-FFAB-8993-55FD-AE2ECDEF0399}"/>
              </a:ext>
            </a:extLst>
          </p:cNvPr>
          <p:cNvSpPr txBox="1"/>
          <p:nvPr/>
        </p:nvSpPr>
        <p:spPr>
          <a:xfrm>
            <a:off x="838200" y="4091924"/>
            <a:ext cx="60973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Insight:</a:t>
            </a:r>
          </a:p>
          <a:p>
            <a:pPr>
              <a:buNone/>
            </a:pPr>
            <a:r>
              <a:rPr lang="en-US" sz="2400" dirty="0"/>
              <a:t>Route R002 requires immediate optimization.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94FB24B4-DF05-1379-6EE3-691D83EC61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3237522"/>
              </p:ext>
            </p:extLst>
          </p:nvPr>
        </p:nvGraphicFramePr>
        <p:xfrm>
          <a:off x="6683434" y="955965"/>
          <a:ext cx="5508566" cy="48712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44998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897B5-4A71-958A-341C-798597617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76748"/>
          </a:xfrm>
        </p:spPr>
        <p:txBody>
          <a:bodyPr>
            <a:normAutofit/>
          </a:bodyPr>
          <a:lstStyle/>
          <a:p>
            <a:r>
              <a:rPr lang="en-US" b="1" dirty="0"/>
              <a:t>               Route Optimization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757D82-67FB-197D-19FF-CD03568BEDBC}"/>
              </a:ext>
            </a:extLst>
          </p:cNvPr>
          <p:cNvSpPr txBox="1"/>
          <p:nvPr/>
        </p:nvSpPr>
        <p:spPr>
          <a:xfrm>
            <a:off x="275303" y="1136064"/>
            <a:ext cx="5820697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400" b="1" dirty="0"/>
              <a:t>Metrics used: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/>
              <a:t>Average Delay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/>
              <a:t>Efficiency Ratio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/>
              <a:t>Delay Percentage </a:t>
            </a:r>
          </a:p>
          <a:p>
            <a:pPr algn="just"/>
            <a:endParaRPr lang="en-US" sz="2200" dirty="0"/>
          </a:p>
          <a:p>
            <a:pPr algn="just">
              <a:buNone/>
            </a:pPr>
            <a:r>
              <a:rPr lang="en-US" sz="2400" b="1" dirty="0"/>
              <a:t>Worst Routes: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/>
              <a:t>R002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/>
              <a:t>R007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/>
              <a:t>R020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200" dirty="0"/>
          </a:p>
          <a:p>
            <a:r>
              <a:rPr lang="en-US" sz="2400" b="1" dirty="0"/>
              <a:t>Key Findings: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High average delays were observed on selected routes.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These routes require optimization to improve delivery efficiency.</a:t>
            </a:r>
          </a:p>
          <a:p>
            <a:pPr algn="just"/>
            <a:endParaRPr lang="en-US" sz="2200" dirty="0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38F27219-8EE0-62AF-1246-D9913B5400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2529101"/>
              </p:ext>
            </p:extLst>
          </p:nvPr>
        </p:nvGraphicFramePr>
        <p:xfrm>
          <a:off x="6243483" y="719666"/>
          <a:ext cx="55355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14524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94105-AD84-6305-B79B-801340780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698090"/>
          </a:xfrm>
        </p:spPr>
        <p:txBody>
          <a:bodyPr>
            <a:normAutofit fontScale="90000"/>
          </a:bodyPr>
          <a:lstStyle/>
          <a:p>
            <a:r>
              <a:rPr lang="en-US" sz="4900" b="1" dirty="0"/>
              <a:t>          Warehouse Performance Analysis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FE08A5-8925-8ADE-80AE-0AACABAA9742}"/>
              </a:ext>
            </a:extLst>
          </p:cNvPr>
          <p:cNvSpPr txBox="1"/>
          <p:nvPr/>
        </p:nvSpPr>
        <p:spPr>
          <a:xfrm>
            <a:off x="838200" y="854946"/>
            <a:ext cx="5926394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400" b="1" dirty="0"/>
              <a:t>KPIs Evaluated: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Average Delay 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Delayed Shipment % 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Utilization %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sz="2400" b="1" dirty="0"/>
          </a:p>
          <a:p>
            <a:pPr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400" b="1" dirty="0"/>
              <a:t>Insight:</a:t>
            </a:r>
          </a:p>
          <a:p>
            <a:pPr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00" dirty="0"/>
              <a:t>High-utilization warehouses may face congestion.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9F0E9ECB-0CFD-168A-7E93-C7968B03A4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05668741"/>
              </p:ext>
            </p:extLst>
          </p:nvPr>
        </p:nvGraphicFramePr>
        <p:xfrm>
          <a:off x="6764594" y="719666"/>
          <a:ext cx="4837471" cy="5700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11054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E91F1-D3C8-B446-FDB4-5AE25DBC2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45574"/>
          </a:xfrm>
        </p:spPr>
        <p:txBody>
          <a:bodyPr/>
          <a:lstStyle/>
          <a:p>
            <a:r>
              <a:rPr lang="en-US" b="1" dirty="0"/>
              <a:t>         Delivery Agent Performance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D1756E-3D3F-58A5-A55D-6ACA49E0E34C}"/>
              </a:ext>
            </a:extLst>
          </p:cNvPr>
          <p:cNvSpPr txBox="1"/>
          <p:nvPr/>
        </p:nvSpPr>
        <p:spPr>
          <a:xfrm>
            <a:off x="353962" y="845575"/>
            <a:ext cx="5388077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400" b="1" dirty="0"/>
              <a:t>Metrics Evaluated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Average Delay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On-Time Delivery Percentage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Experience (Years)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Average Rating</a:t>
            </a:r>
          </a:p>
          <a:p>
            <a:pPr>
              <a:spcBef>
                <a:spcPts val="300"/>
              </a:spcBef>
              <a:spcAft>
                <a:spcPts val="300"/>
              </a:spcAft>
              <a:buNone/>
            </a:pPr>
            <a:endParaRPr lang="en-US" sz="2400" dirty="0"/>
          </a:p>
          <a:p>
            <a:pPr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400" b="1" dirty="0"/>
              <a:t>Analysis Performed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Top 5 Performing Agents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Bottom 5 Performing Agents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Compared ratings and experience</a:t>
            </a:r>
            <a:endParaRPr lang="en-US" sz="2200" dirty="0"/>
          </a:p>
          <a:p>
            <a:pPr>
              <a:spcBef>
                <a:spcPts val="300"/>
              </a:spcBef>
              <a:spcAft>
                <a:spcPts val="300"/>
              </a:spcAft>
              <a:buNone/>
            </a:pPr>
            <a:endParaRPr lang="en-US" sz="2200" dirty="0"/>
          </a:p>
          <a:p>
            <a:pPr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400" b="1" dirty="0"/>
              <a:t>Key Insight:</a:t>
            </a:r>
          </a:p>
          <a:p>
            <a:pPr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00" dirty="0"/>
              <a:t>Agents with more experience and higher ratings generally showed better performance.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D3AD64D8-AF1D-04B8-9C36-AAA2DF154B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5728522"/>
              </p:ext>
            </p:extLst>
          </p:nvPr>
        </p:nvGraphicFramePr>
        <p:xfrm>
          <a:off x="5879689" y="845575"/>
          <a:ext cx="5958349" cy="56006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79636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0BFC2-B46F-B4FF-996F-9C0796181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25909"/>
          </a:xfrm>
        </p:spPr>
        <p:txBody>
          <a:bodyPr/>
          <a:lstStyle/>
          <a:p>
            <a:r>
              <a:rPr lang="en-US" b="1" dirty="0"/>
              <a:t>                      Shipment Monitoring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32AEBB-A767-1DC0-5926-00BA923C696C}"/>
              </a:ext>
            </a:extLst>
          </p:cNvPr>
          <p:cNvSpPr txBox="1"/>
          <p:nvPr/>
        </p:nvSpPr>
        <p:spPr>
          <a:xfrm>
            <a:off x="442452" y="944177"/>
            <a:ext cx="5653548" cy="4570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400" b="1" dirty="0"/>
              <a:t>Analysis Performed: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Monitored shipment status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Identified frequent delay reasons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Tracked returned shipments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Identified extreme delays (&gt;120 hours)</a:t>
            </a:r>
          </a:p>
          <a:p>
            <a:pPr>
              <a:spcBef>
                <a:spcPts val="300"/>
              </a:spcBef>
              <a:spcAft>
                <a:spcPts val="300"/>
              </a:spcAft>
              <a:buNone/>
            </a:pPr>
            <a:endParaRPr lang="en-US" sz="2200" dirty="0"/>
          </a:p>
          <a:p>
            <a:pPr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400" b="1" dirty="0"/>
              <a:t>Key Findings: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Traffic was the most common delay reason.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Some shipments experienced delays greater than 120 hours.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Certain routes require additional monitoring.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253DC5D5-FEFF-E4EA-0293-05E4219ADE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8768388"/>
              </p:ext>
            </p:extLst>
          </p:nvPr>
        </p:nvGraphicFramePr>
        <p:xfrm>
          <a:off x="6096001" y="719666"/>
          <a:ext cx="5830528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64233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B10E2-1D88-DB25-6364-8B4DCC61D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88490"/>
            <a:ext cx="10515600" cy="993058"/>
          </a:xfrm>
        </p:spPr>
        <p:txBody>
          <a:bodyPr>
            <a:normAutofit/>
          </a:bodyPr>
          <a:lstStyle/>
          <a:p>
            <a:r>
              <a:rPr lang="en-US" b="1" dirty="0"/>
              <a:t>  Key Performance Indicators (KPI Dashboard)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FD7F83E-5795-BBE5-0195-AAA0EDD7A10B}"/>
              </a:ext>
            </a:extLst>
          </p:cNvPr>
          <p:cNvSpPr/>
          <p:nvPr/>
        </p:nvSpPr>
        <p:spPr>
          <a:xfrm>
            <a:off x="924232" y="1494503"/>
            <a:ext cx="2684207" cy="13765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/>
          </a:p>
          <a:p>
            <a:r>
              <a:rPr lang="en-US" b="1" dirty="0"/>
              <a:t>  </a:t>
            </a:r>
            <a:r>
              <a:rPr lang="en-US" sz="2000" b="1" dirty="0"/>
              <a:t>Duplicate Records: </a:t>
            </a:r>
          </a:p>
          <a:p>
            <a:r>
              <a:rPr lang="en-US" sz="2000" b="1" dirty="0"/>
              <a:t>                 0                           </a:t>
            </a:r>
          </a:p>
          <a:p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40E5992-C3BC-788A-00AA-82A14B39F8C4}"/>
              </a:ext>
            </a:extLst>
          </p:cNvPr>
          <p:cNvSpPr/>
          <p:nvPr/>
        </p:nvSpPr>
        <p:spPr>
          <a:xfrm>
            <a:off x="4611329" y="1494503"/>
            <a:ext cx="2831690" cy="13765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/>
          </a:p>
          <a:p>
            <a:r>
              <a:rPr lang="en-US" sz="2000" b="1" dirty="0"/>
              <a:t>  Missing Delay Hours: </a:t>
            </a:r>
          </a:p>
          <a:p>
            <a:r>
              <a:rPr lang="en-US" sz="2000" b="1" dirty="0"/>
              <a:t>                   0</a:t>
            </a:r>
          </a:p>
          <a:p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CE8BCA0-0FF9-3594-3CCF-9E71E84FCA28}"/>
              </a:ext>
            </a:extLst>
          </p:cNvPr>
          <p:cNvSpPr/>
          <p:nvPr/>
        </p:nvSpPr>
        <p:spPr>
          <a:xfrm>
            <a:off x="8413954" y="1494503"/>
            <a:ext cx="2706329" cy="13765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        Invalid Dates: </a:t>
            </a:r>
          </a:p>
          <a:p>
            <a:r>
              <a:rPr lang="en-US" sz="2000" b="1" dirty="0"/>
              <a:t>                  0</a:t>
            </a:r>
            <a:endParaRPr lang="en-US" sz="20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1F33423-26C1-E36B-DA2D-A5B91566DF26}"/>
              </a:ext>
            </a:extLst>
          </p:cNvPr>
          <p:cNvSpPr/>
          <p:nvPr/>
        </p:nvSpPr>
        <p:spPr>
          <a:xfrm>
            <a:off x="838200" y="3775587"/>
            <a:ext cx="2770239" cy="13765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Highest Delay Route: R002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4F1D1EF-7235-FF7C-146C-5EF8434466F5}"/>
              </a:ext>
            </a:extLst>
          </p:cNvPr>
          <p:cNvSpPr/>
          <p:nvPr/>
        </p:nvSpPr>
        <p:spPr>
          <a:xfrm>
            <a:off x="4611329" y="3775587"/>
            <a:ext cx="2831690" cy="13765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On-Time Delivery:</a:t>
            </a:r>
          </a:p>
          <a:p>
            <a:pPr algn="ctr"/>
            <a:r>
              <a:rPr lang="en-US" sz="2000" b="1" dirty="0"/>
              <a:t>54%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64D1F8-4AD4-95B1-C8A2-B366B0D1C184}"/>
              </a:ext>
            </a:extLst>
          </p:cNvPr>
          <p:cNvSpPr txBox="1"/>
          <p:nvPr/>
        </p:nvSpPr>
        <p:spPr>
          <a:xfrm>
            <a:off x="481781" y="5527029"/>
            <a:ext cx="102943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These KPIs summarize the overall performance of DHL's logistics operations and highlight areas requiring improvement.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5D5569A-B540-9057-5E04-3391558452B7}"/>
              </a:ext>
            </a:extLst>
          </p:cNvPr>
          <p:cNvSpPr/>
          <p:nvPr/>
        </p:nvSpPr>
        <p:spPr>
          <a:xfrm>
            <a:off x="8445909" y="3775587"/>
            <a:ext cx="2706329" cy="13765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 Optimization Routes:</a:t>
            </a:r>
          </a:p>
          <a:p>
            <a:r>
              <a:rPr lang="en-US" sz="2000" b="1" dirty="0"/>
              <a:t>                    5</a:t>
            </a:r>
          </a:p>
        </p:txBody>
      </p:sp>
    </p:spTree>
    <p:extLst>
      <p:ext uri="{BB962C8B-B14F-4D97-AF65-F5344CB8AC3E}">
        <p14:creationId xmlns:p14="http://schemas.microsoft.com/office/powerpoint/2010/main" val="35207148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4CE09-0B45-5809-3CDD-96DB9A418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24232"/>
          </a:xfrm>
        </p:spPr>
        <p:txBody>
          <a:bodyPr>
            <a:normAutofit/>
          </a:bodyPr>
          <a:lstStyle/>
          <a:p>
            <a:r>
              <a:rPr lang="en-US" b="1" dirty="0"/>
              <a:t>                       Recommendations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EB7F45E-DDC2-8017-A9C4-26CD328E3F1C}"/>
              </a:ext>
            </a:extLst>
          </p:cNvPr>
          <p:cNvSpPr/>
          <p:nvPr/>
        </p:nvSpPr>
        <p:spPr>
          <a:xfrm>
            <a:off x="838200" y="1268361"/>
            <a:ext cx="4854677" cy="11307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Optimize High-Delay Routes</a:t>
            </a:r>
          </a:p>
          <a:p>
            <a:r>
              <a:rPr lang="en-US" dirty="0"/>
              <a:t>Prioritize routes such as </a:t>
            </a:r>
            <a:r>
              <a:rPr lang="en-US" b="1" dirty="0"/>
              <a:t>R002</a:t>
            </a:r>
            <a:r>
              <a:rPr lang="en-US" dirty="0"/>
              <a:t> to reduce delivery delays.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24F3DEF-0EC5-268B-2538-F7F54F202393}"/>
              </a:ext>
            </a:extLst>
          </p:cNvPr>
          <p:cNvSpPr/>
          <p:nvPr/>
        </p:nvSpPr>
        <p:spPr>
          <a:xfrm>
            <a:off x="838198" y="2984090"/>
            <a:ext cx="4854677" cy="11307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Monitor Warehouse Utilization</a:t>
            </a:r>
          </a:p>
          <a:p>
            <a:r>
              <a:rPr lang="en-US" dirty="0"/>
              <a:t>Balance warehouse workloads to avoid congestion.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0D65E12-ACE1-E56B-1033-B92DAA8556C2}"/>
              </a:ext>
            </a:extLst>
          </p:cNvPr>
          <p:cNvSpPr/>
          <p:nvPr/>
        </p:nvSpPr>
        <p:spPr>
          <a:xfrm>
            <a:off x="838198" y="4699819"/>
            <a:ext cx="4854677" cy="11307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Improve Agent Performance</a:t>
            </a:r>
            <a:endParaRPr lang="en-US" sz="2400" dirty="0"/>
          </a:p>
          <a:p>
            <a:r>
              <a:rPr lang="en-US" dirty="0"/>
              <a:t>Provide training for agents with low on-time delivery percentages.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754389F-8387-D170-9AFA-A1E50869BFC0}"/>
              </a:ext>
            </a:extLst>
          </p:cNvPr>
          <p:cNvSpPr/>
          <p:nvPr/>
        </p:nvSpPr>
        <p:spPr>
          <a:xfrm>
            <a:off x="6390970" y="2064773"/>
            <a:ext cx="4854677" cy="11307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Investigate Extreme Delays</a:t>
            </a:r>
          </a:p>
          <a:p>
            <a:r>
              <a:rPr lang="en-US" dirty="0"/>
              <a:t>Monitor shipments delayed by more than </a:t>
            </a:r>
            <a:r>
              <a:rPr lang="en-US" b="1" dirty="0"/>
              <a:t>120 hours</a:t>
            </a:r>
            <a:r>
              <a:rPr lang="en-US" dirty="0"/>
              <a:t>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DE553ED-2FD0-6E23-AE0E-2E65FFED2BFE}"/>
              </a:ext>
            </a:extLst>
          </p:cNvPr>
          <p:cNvSpPr/>
          <p:nvPr/>
        </p:nvSpPr>
        <p:spPr>
          <a:xfrm>
            <a:off x="6390969" y="3770669"/>
            <a:ext cx="4854677" cy="11307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Implement Predictive Monitoring</a:t>
            </a:r>
            <a:endParaRPr lang="en-US" sz="2400" dirty="0"/>
          </a:p>
          <a:p>
            <a:r>
              <a:rPr lang="en-US" dirty="0"/>
              <a:t>Use analytics to identify delays before they occur.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A8602F-85D8-3F41-AAA7-63C3AA38768D}"/>
              </a:ext>
            </a:extLst>
          </p:cNvPr>
          <p:cNvSpPr txBox="1"/>
          <p:nvPr/>
        </p:nvSpPr>
        <p:spPr>
          <a:xfrm>
            <a:off x="838198" y="6091080"/>
            <a:ext cx="106753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These recommendations can improve delivery efficiency, reduce delays, and enhance customer satisfaction.</a:t>
            </a:r>
          </a:p>
        </p:txBody>
      </p:sp>
    </p:spTree>
    <p:extLst>
      <p:ext uri="{BB962C8B-B14F-4D97-AF65-F5344CB8AC3E}">
        <p14:creationId xmlns:p14="http://schemas.microsoft.com/office/powerpoint/2010/main" val="1835976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CD7DA-A414-799B-D1E6-58E67BA24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491"/>
            <a:ext cx="10515600" cy="796412"/>
          </a:xfrm>
        </p:spPr>
        <p:txBody>
          <a:bodyPr/>
          <a:lstStyle/>
          <a:p>
            <a:r>
              <a:rPr lang="en-US" b="1" dirty="0"/>
              <a:t>                              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E250D1-3719-74E6-789B-2B3B84015A7D}"/>
              </a:ext>
            </a:extLst>
          </p:cNvPr>
          <p:cNvSpPr txBox="1"/>
          <p:nvPr/>
        </p:nvSpPr>
        <p:spPr>
          <a:xfrm>
            <a:off x="629263" y="1094204"/>
            <a:ext cx="1023538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dataset was successfully cleaned and validated.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High-delay routes were identified for optimization.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Warehouse performance and utilization were evaluated.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Delivery agent performance was analyzed.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Recommendations were proposed to improve operational efficiency.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217C0A-8D24-5E6A-F617-7A25544B1224}"/>
              </a:ext>
            </a:extLst>
          </p:cNvPr>
          <p:cNvSpPr txBox="1"/>
          <p:nvPr/>
        </p:nvSpPr>
        <p:spPr>
          <a:xfrm>
            <a:off x="629263" y="4056258"/>
            <a:ext cx="103828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This analysis provides actionable insights to improve DHL's operational efficiency and customer satisfaction.</a:t>
            </a:r>
          </a:p>
        </p:txBody>
      </p:sp>
    </p:spTree>
    <p:extLst>
      <p:ext uri="{BB962C8B-B14F-4D97-AF65-F5344CB8AC3E}">
        <p14:creationId xmlns:p14="http://schemas.microsoft.com/office/powerpoint/2010/main" val="698303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490AF19-89AF-F8DE-C6AD-5B72F570FC0B}"/>
              </a:ext>
            </a:extLst>
          </p:cNvPr>
          <p:cNvSpPr txBox="1"/>
          <p:nvPr/>
        </p:nvSpPr>
        <p:spPr>
          <a:xfrm>
            <a:off x="3392129" y="1614637"/>
            <a:ext cx="540774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600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1781880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</TotalTime>
  <Words>609</Words>
  <Application>Microsoft Office PowerPoint</Application>
  <PresentationFormat>Widescreen</PresentationFormat>
  <Paragraphs>176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DHL Logistics Supply Chain Optimization Using SQL</vt:lpstr>
      <vt:lpstr>                         Project Overview</vt:lpstr>
      <vt:lpstr>                        Problem Statement</vt:lpstr>
      <vt:lpstr>Project Objectives</vt:lpstr>
      <vt:lpstr>                   Dataset Description</vt:lpstr>
      <vt:lpstr>                            Methodology</vt:lpstr>
      <vt:lpstr>                Data Cleaning &amp; Validation</vt:lpstr>
      <vt:lpstr>                             Delay Analysis</vt:lpstr>
      <vt:lpstr>               Route Optimization Analysis</vt:lpstr>
      <vt:lpstr>          Warehouse Performance Analysis </vt:lpstr>
      <vt:lpstr>         Delivery Agent Performance Analysis</vt:lpstr>
      <vt:lpstr>                      Shipment Monitoring</vt:lpstr>
      <vt:lpstr>  Key Performance Indicators (KPI Dashboard)</vt:lpstr>
      <vt:lpstr>                       Recommendations</vt:lpstr>
      <vt:lpstr>                              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Suhani Bhardwaj</dc:creator>
  <cp:lastModifiedBy>Suhani Bhardwaj</cp:lastModifiedBy>
  <cp:revision>20</cp:revision>
  <dcterms:created xsi:type="dcterms:W3CDTF">2026-06-18T08:08:13Z</dcterms:created>
  <dcterms:modified xsi:type="dcterms:W3CDTF">2026-09-18T14:03:46Z</dcterms:modified>
</cp:coreProperties>
</file>